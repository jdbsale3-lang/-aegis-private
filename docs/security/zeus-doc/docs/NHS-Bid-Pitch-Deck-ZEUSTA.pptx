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CE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D9F24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9F24B"/>
                </a:solidFill>
              </a:rPr>
              <a:t>NHS DIGITAL IDENTITY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ZEUS ID CARD SYSTEM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FCEE4"/>
                </a:solidFill>
              </a:rPr>
              <a:t>One sovereign platform: ZEUS DOC threshold identity · AEGIS AI security · 50M-patient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C"/>
                </a:solidFill>
              </a:rPr>
              <a:t>Bid proposition for NHS England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C"/>
                </a:solidFill>
              </a:rPr>
              <a:t>ZEUSTRUSTAEGISSECURITY LTD · CH 17391549 · 66 Paul St, London EC2A 4NA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CEE4"/>
                </a:solidFill>
              </a:rPr>
              <a:t>LESSON 1 — THE ESTONIA PROOF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Estonia runs a national eID: physical PKI card + PINs, Mobile-ID/Smart-ID carriers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Consequence: eID is used for identification, e-signing and secure data transfer by 1.3M citizens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F24B"/>
                </a:solidFill>
              </a:rPr>
              <a:t>LESSON 2 — THE SPLITKEY REFERENCE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Threshold cryptography: the private key is SPLIT across the user's devices — never whole, anywhere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• Tokenless + passwordless + hardware-grade security in software (eIDAS/PSD2, EAL4+ reference)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8046720" cy="18288"/>
          </a:xfrm>
          <a:prstGeom prst="rect">
            <a:avLst/>
          </a:prstGeom>
          <a:solidFill>
            <a:srgbClr val="4FCEE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F24B"/>
                </a:solidFill>
              </a:rPr>
              <a:t>ZEUS delivers BOTH — plus an AI security layer and full UK sovereignty, built for NHS England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INTRODUCING ZEUS DOC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</a:rPr>
              <a:t>Digital Operations &amp; Certificates — our own tokenless, passwordless identity + signing software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361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Zero passwords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15361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No OTP, no tokens — challenge/response co-signature (5-min TTL, constant-time compare)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1343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Split-key security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134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Shamir t-of-n: the master key never exists whole; losing a device changes nothing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067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Non-repudiation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840480" y="30906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Every consent record digitally signed and verified — legally strong signatures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86791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CEE4"/>
                </a:solidFill>
              </a:rPr>
              <a:t>Audit ledger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40480" y="38679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HMAC-verified, idempotent receipts — every authentication and signing event traceable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D9F24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4515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31B"/>
                </a:solidFill>
              </a:rPr>
              <a:t>LIVE TODAY — production E2E passed: create identity · 2-of-3 authenticate · sign · verify · tamper rejected (apiaegissecurity.tech/zeusdoc)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THE NHS ID CARD SYSTEM — 50M SCALE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C"/>
                </a:solidFill>
              </a:rPr>
              <a:t>Bureau-certified manufacture + ZEUS DOC software spine + AEGIS security — a single UK-sovereign programme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Smart cards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383280" y="141732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50M NHS ID smart cards (bureau model: Certus / G+D / Thales / Entrust — RFIs sent)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Digital identity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211226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ZEUS DOC tokenless identity on every patient's devices, passwordless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8072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Consent &amp; audit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280720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Signed consent records, verify-able receipt ledger — compliance by design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5021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Security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350215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AEGIS AI platform: 8 modules, 37 endpoints, 24 layers — prompt-injection defense, watermarking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1970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Compliance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4197096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DTAC · DSPT · UK GDPR · DPIA · NHS T&amp;Cs IP clauses — drafted, ready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WHY ZEUS — AND WHY NOT THE REFERENCE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ZEUS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SplitKey/Estonia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UK sovereignty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Yes — JDB Sales IP, UK holding co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Foreign vendor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AI threat layer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AEGIS: 8 modules, injection defense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None advertised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NHS compliance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DTAC / DSPT / UK GDPR / DPIA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EU eIDAS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50M patients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1.3M (EE) / enterprise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Consent ledger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Signed, idempotent receipts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Generic signing logs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03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C"/>
                </a:solidFill>
              </a:rPr>
              <a:t>Honest note: reference holds EAL4+ Common Criteria — ZEUS scopes this as a follow-on workstream while leading on AI security + NHS-native compliance.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F24B"/>
                </a:solidFill>
              </a:rPr>
              <a:t>LIVE EVIDENCE — NOT A SLIDE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2801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AEGIS live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91840" y="1280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8 modules · 37 endpoints · /nhs-compliance 200 · prompt-injection blocked (DAN 0.8)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ZEUS DOC live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20116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apiaegissecurity.tech/zeusdoc — E2E passed: create → challenge → 2-of-3 auth → sign → verify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5176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43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Integrity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7432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113/113 tests · AIDE nightly tamper-detection · S3 + local backups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8046720" cy="603504"/>
          </a:xfrm>
          <a:prstGeom prst="roundRect">
            <a:avLst>
              <a:gd name="adj" fmla="val 12121"/>
            </a:avLst>
          </a:prstGeom>
          <a:solidFill>
            <a:srgbClr val="1B2030"/>
          </a:solidFill>
          <a:ln w="6350">
            <a:solidFill>
              <a:srgbClr val="3DD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4747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66E"/>
                </a:solidFill>
              </a:rPr>
              <a:t>✔ Frontend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474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NHS ID card UI (patient portal) ready — passwordless sign-in flow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EE4"/>
                </a:solidFill>
              </a:rPr>
              <a:t>Demo script on request — live calls, no canned screenshots.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ESTONIA PROOF — 99% · 100% · 2% GDP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C"/>
                </a:solidFill>
              </a:rPr>
              <a:t>A whole-state digital model, proven at national scale — the numbers NHS boards will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1B2030"/>
          </a:solidFill>
          <a:ln w="6350">
            <a:solidFill>
              <a:srgbClr val="D9F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★ 99% of citizens hold an e-ID card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937760" y="148132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Ubiquitous identity is achievable at national scale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075688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1B2030"/>
          </a:solidFill>
          <a:ln w="6350">
            <a:solidFill>
              <a:srgbClr val="D9F2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39696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★ 100% of government services online (2024)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937760" y="2139696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The NHS can be the UK's first 100% digital public service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734056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1B2030"/>
          </a:solidFill>
          <a:ln w="6350">
            <a:solidFill>
              <a:srgbClr val="D9F2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98064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★ 100% of patients have a national e-Health record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37760" y="2798064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Identity is the key that unlocks joined-up care data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1B2030"/>
          </a:solidFill>
          <a:ln w="6350">
            <a:solidFill>
              <a:srgbClr val="D9F2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456432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★ Digital signatures save 2% of GDP annually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37760" y="3456432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Measurable ROI for consent &amp; clinical e-signing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5079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1B2030"/>
          </a:solidFill>
          <a:ln w="6350">
            <a:solidFill>
              <a:srgbClr val="D9F2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114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★ 100% of prescriptions handled online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937760" y="4114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Paperless medicines workflow, end to end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CEE4"/>
                </a:solidFill>
              </a:rPr>
              <a:t>Named national awardee of the e-Estonia reference model — ZEUS matches the blueprint + AEGIS AI security + UK sovereignty.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COMMERCIAL MODEL — TIERS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C"/>
                </a:solidFill>
              </a:rPr>
              <a:t>Anchored to the programme business case: £24.4B value · 28.2x ROI · 10yr NHS England. Indicative, negotiable.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621792"/>
          </a:xfrm>
          <a:prstGeom prst="roundRect">
            <a:avLst>
              <a:gd name="adj" fmla="val 10294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F24B"/>
                </a:solidFill>
              </a:rPr>
              <a:t>Pilot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77440" y="1554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One ICB / trust region — ZEUS DOC + AEGIS + 100k cards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577840" y="1554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CEE4"/>
                </a:solidFill>
              </a:rPr>
              <a:t>£1.0M / yr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223760" y="15544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C"/>
                </a:solidFill>
              </a:rPr>
              <a:t>Proof, live in 90 days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8046720" cy="621792"/>
          </a:xfrm>
          <a:prstGeom prst="roundRect">
            <a:avLst>
              <a:gd name="adj" fmla="val 10294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2860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F24B"/>
                </a:solidFill>
              </a:rPr>
              <a:t>Regional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77440" y="22860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ICS cluster — identity + consent ledger + data adapter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577840" y="22860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CEE4"/>
                </a:solidFill>
              </a:rPr>
              <a:t>£8M / yr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223760" y="22860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C"/>
                </a:solidFill>
              </a:rPr>
              <a:t>Scaled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8046720" cy="621792"/>
          </a:xfrm>
          <a:prstGeom prst="roundRect">
            <a:avLst>
              <a:gd name="adj" fmla="val 10294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17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F24B"/>
                </a:solidFill>
              </a:rPr>
              <a:t>National 50M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7744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NHS England full rollout — cards + ZEUS DOC + AEGIS + registries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77840" y="30175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CEE4"/>
                </a:solidFill>
              </a:rPr>
              <a:t>£86M / yr (10yr £865M)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223760" y="30175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C"/>
                </a:solidFill>
              </a:rPr>
              <a:t>£24.4B · 28.2x ROI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8046720" cy="621792"/>
          </a:xfrm>
          <a:prstGeom prst="roundRect">
            <a:avLst>
              <a:gd name="adj" fmla="val 10294"/>
            </a:avLst>
          </a:prstGeom>
          <a:solidFill>
            <a:srgbClr val="1B2030"/>
          </a:solidFill>
          <a:ln w="6350">
            <a:solidFill>
              <a:srgbClr val="4FCE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49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F24B"/>
                </a:solidFill>
              </a:rPr>
              <a:t>White-label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377440" y="3749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Licence / export — other public sectors, international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577840" y="37490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FCEE4"/>
                </a:solidFill>
              </a:rPr>
              <a:t>Bespoke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223760" y="37490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C"/>
                </a:solidFill>
              </a:rPr>
              <a:t>Recurring licence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F24B"/>
                </a:solidFill>
              </a:rPr>
              <a:t>Break-even at each tier covered by efficiency gains: signatures, consent automation, fraud reduction.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CEE4"/>
                </a:solidFill>
              </a:rPr>
              <a:t>COMMERCIAL &amp; NEXT STEPS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IP &amp; ownership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474720" y="10972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All IP belongs to JDB Sales, licensed to ZEUSTA (holding co) — UK economic retention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Model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810512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Certified-bureau manufacture + ZEUS DOC software + AEGIS security — single programme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523744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EAL4+ readiness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252374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Crypto core isolated → scoped Common Criteria workstream if procurement requires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236976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3236976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One trust/region pilot → 50M rollout roadmap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950208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F24B"/>
                </a:solidFill>
              </a:rPr>
              <a:t>Next milestone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74720" y="3950208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NHS England meeting Thu 1 Oct 16:00 — live demo ready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D9F24B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48646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ZEUSTA · ZEUS DOC · AEGIS — All IP belongs to JDB Sales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503920" y="486460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ZEUS NHS Digital Identity — Bid Pitch</dc:title>
  <dc:subject>PptxGenJS Presentation</dc:subject>
  <dc:creator>ZEUSTRUSTAEGISSECURITY LTD</dc:creator>
  <cp:lastModifiedBy>ZEUSTRUSTAEGISSECURITY LTD</cp:lastModifiedBy>
  <cp:revision>1</cp:revision>
  <dcterms:created xsi:type="dcterms:W3CDTF">2026-08-30T18:13:25Z</dcterms:created>
  <dcterms:modified xsi:type="dcterms:W3CDTF">2026-08-30T18:13:25Z</dcterms:modified>
</cp:coreProperties>
</file>